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9" r:id="rId4"/>
    <p:sldId id="260" r:id="rId5"/>
    <p:sldId id="262" r:id="rId6"/>
    <p:sldId id="264" r:id="rId7"/>
    <p:sldId id="266" r:id="rId8"/>
    <p:sldId id="268" r:id="rId9"/>
    <p:sldId id="270" r:id="rId10"/>
    <p:sldId id="272" r:id="rId11"/>
    <p:sldId id="274" r:id="rId12"/>
    <p:sldId id="276" r:id="rId13"/>
    <p:sldId id="278" r:id="rId14"/>
    <p:sldId id="281" r:id="rId15"/>
    <p:sldId id="283" r:id="rId16"/>
    <p:sldId id="285" r:id="rId17"/>
    <p:sldId id="287" r:id="rId18"/>
    <p:sldId id="289" r:id="rId19"/>
    <p:sldId id="291" r:id="rId20"/>
    <p:sldId id="293" r:id="rId21"/>
    <p:sldId id="296" r:id="rId22"/>
    <p:sldId id="298" r:id="rId23"/>
    <p:sldId id="300" r:id="rId24"/>
    <p:sldId id="302" r:id="rId25"/>
    <p:sldId id="304" r:id="rId26"/>
    <p:sldId id="306" r:id="rId27"/>
    <p:sldId id="308" r:id="rId28"/>
    <p:sldId id="310" r:id="rId29"/>
    <p:sldId id="312" r:id="rId30"/>
    <p:sldId id="314" r:id="rId31"/>
    <p:sldId id="316" r:id="rId32"/>
    <p:sldId id="318" r:id="rId33"/>
    <p:sldId id="320" r:id="rId34"/>
    <p:sldId id="322" r:id="rId35"/>
    <p:sldId id="324" r:id="rId36"/>
    <p:sldId id="326" r:id="rId37"/>
    <p:sldId id="328" r:id="rId38"/>
    <p:sldId id="330" r:id="rId39"/>
    <p:sldId id="332" r:id="rId40"/>
    <p:sldId id="334" r:id="rId41"/>
    <p:sldId id="336" r:id="rId42"/>
    <p:sldId id="338" r:id="rId43"/>
    <p:sldId id="340" r:id="rId44"/>
    <p:sldId id="342" r:id="rId45"/>
    <p:sldId id="344" r:id="rId46"/>
    <p:sldId id="346" r:id="rId47"/>
    <p:sldId id="348" r:id="rId48"/>
    <p:sldId id="350" r:id="rId49"/>
    <p:sldId id="352" r:id="rId50"/>
    <p:sldId id="354" r:id="rId51"/>
    <p:sldId id="356" r:id="rId52"/>
    <p:sldId id="358" r:id="rId53"/>
    <p:sldId id="359" r:id="rId54"/>
  </p:sldIdLst>
  <p:sldSz cx="9144000" cy="6858000" type="letter"/>
  <p:notesSz cx="6858000" cy="9144000"/>
  <p:custDataLst>
    <p:tags r:id="rId5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60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49197-140B-4AC9-BDE6-6D5D2284581B}" type="datetimeFigureOut">
              <a:rPr lang="es-CO" smtClean="0"/>
              <a:pPr/>
              <a:t>30/03/2023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AA14A6-3B36-4C7D-AE97-7E97509D4865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2461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6</a:t>
            </a:fld>
            <a:endParaRPr lang="es-CO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7</a:t>
            </a:fld>
            <a:endParaRPr lang="es-CO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11</a:t>
            </a:fld>
            <a:endParaRPr lang="es-CO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13</a:t>
            </a:fld>
            <a:endParaRPr lang="es-CO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14</a:t>
            </a:fld>
            <a:endParaRPr lang="es-CO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15</a:t>
            </a:fld>
            <a:endParaRPr lang="es-CO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18</a:t>
            </a:fld>
            <a:endParaRPr lang="es-CO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19</a:t>
            </a:fld>
            <a:endParaRPr lang="es-CO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20</a:t>
            </a:fld>
            <a:endParaRPr lang="es-CO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21</a:t>
            </a:fld>
            <a:endParaRPr lang="es-CO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22</a:t>
            </a:fld>
            <a:endParaRPr lang="es-CO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23</a:t>
            </a:fld>
            <a:endParaRPr lang="es-CO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24</a:t>
            </a:fld>
            <a:endParaRPr lang="es-CO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25</a:t>
            </a:fld>
            <a:endParaRPr lang="es-CO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26</a:t>
            </a:fld>
            <a:endParaRPr lang="es-CO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27</a:t>
            </a:fld>
            <a:endParaRPr lang="es-CO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28</a:t>
            </a:fld>
            <a:endParaRPr lang="es-CO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29</a:t>
            </a:fld>
            <a:endParaRPr lang="es-CO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30</a:t>
            </a:fld>
            <a:endParaRPr lang="es-CO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37</a:t>
            </a:fld>
            <a:endParaRPr lang="es-CO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38</a:t>
            </a:fld>
            <a:endParaRPr lang="es-CO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39</a:t>
            </a:fld>
            <a:endParaRPr lang="es-CO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40</a:t>
            </a:fld>
            <a:endParaRPr lang="es-CO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43</a:t>
            </a:fld>
            <a:endParaRPr lang="es-CO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45</a:t>
            </a:fld>
            <a:endParaRPr lang="es-CO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46</a:t>
            </a:fld>
            <a:endParaRPr lang="es-CO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47</a:t>
            </a:fld>
            <a:endParaRPr lang="es-CO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51</a:t>
            </a:fld>
            <a:endParaRPr lang="es-CO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52</a:t>
            </a:fld>
            <a:endParaRPr lang="es-CO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AA14A6-3B36-4C7D-AE97-7E97509D4865}" type="slidenum">
              <a:rPr lang="es-CO" smtClean="0"/>
              <a:pPr/>
              <a:t>53</a:t>
            </a:fld>
            <a:endParaRPr lang="es-CO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5E1DA-7967-423A-B83A-5F5C0A7F1C77}" type="datetimeFigureOut">
              <a:rPr lang="es-ES" smtClean="0"/>
              <a:pPr/>
              <a:t>30/03/2023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3986D-B52E-4BDD-8F06-4B48A05F6963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601917"/>
            <a:ext cx="7772400" cy="1470025"/>
          </a:xfrm>
        </p:spPr>
        <p:txBody>
          <a:bodyPr>
            <a:noAutofit/>
          </a:bodyPr>
          <a:lstStyle/>
          <a:p>
            <a:r>
              <a:rPr lang="es-ES" sz="9600" dirty="0"/>
              <a:t>Etiquetas RSI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8"/>
          <a:ext cx="8858312" cy="6429418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5820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s-ES" sz="2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TRAJES TYVEK Y/O TYCHEM USADOS       </a:t>
                      </a:r>
                    </a:p>
                    <a:p>
                      <a:pPr algn="ctr" fontAlgn="ctr"/>
                      <a:r>
                        <a:rPr lang="es-ES" sz="2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UN: 3077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91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  INICIAL DE ACOPIO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 FINAL DE ACOPIO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LUGAR DE GENERACION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BOLSA    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91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910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383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Ropa de Trabajo, guantes de vaqueta y botas de seguridad.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383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 orgánicos 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91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1398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el material regado en bolsas plásticas evitando 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13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13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4" y="1428736"/>
            <a:ext cx="1626870" cy="16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6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8"/>
          <a:ext cx="8858312" cy="6449966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972">
                <a:tc gridSpan="4">
                  <a:txBody>
                    <a:bodyPr/>
                    <a:lstStyle/>
                    <a:p>
                      <a:pPr algn="ctr"/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ACEITE DIELÉCTRICO USADO LIBRE DE PCBs                                  UN: 3082   </a:t>
                      </a:r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[ ] &lt; 50ppm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LUGAR DE GENERACION: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32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Ropa de Trabajo, guantes de vaqueta y botas de seguridad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dieléctricas.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732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10972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42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42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4" y="1428736"/>
            <a:ext cx="1626870" cy="16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142852"/>
          <a:ext cx="8858312" cy="6540864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972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ACEITE LUBRICANTE * USADO 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3082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LUGAR DE GENERACION: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031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32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Ropa de Trabajo, guantes de nitrilo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botas antideslizantes.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732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 orgánicos 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10972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599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2876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4" y="1428736"/>
            <a:ext cx="1626870" cy="16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142852"/>
          <a:ext cx="8858312" cy="6631227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ARCILLA GASTADA EN TRATAMIENTOS CON SODA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8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43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_____________________________________________</a:t>
                      </a:r>
                      <a:endParaRPr lang="es-ES" sz="1200" b="0" i="0" u="sng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93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3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51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overol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material impermeable (Traje Tyvek TY 22) desechable,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51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60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83779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</a:t>
                      </a:r>
                      <a:r>
                        <a:rPr lang="es-ES" sz="1200" b="0" i="0" u="sng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en ambiente secos: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Adicional a lo anterior se debe humedecer ligeramente el material para evitar las emisiones de polvo  a la atmósfera.</a:t>
                      </a:r>
                      <a:endParaRPr lang="es-ES" sz="1200" b="0" i="0" u="sng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7169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3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4" y="1408046"/>
            <a:ext cx="1626870" cy="16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580927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433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ALÚMINA GASTADA 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1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1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1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1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1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CANECA: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96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21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21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46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46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21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085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085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No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91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45658" y="1336608"/>
            <a:ext cx="1626870" cy="16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5994494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822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ARCILLA  ADSORBENTE GASTADA 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7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                  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372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CANECA: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  <a:p>
                      <a:pPr algn="l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15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DE                                                       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7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7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91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91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7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086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086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5298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3786190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29454" y="1333497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131890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BARREDURA SUCIA DE PARAFINAS  </a:t>
                      </a:r>
                      <a:r>
                        <a:rPr lang="es-ES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80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17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71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Ropa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trabajo,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10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 orgánicos 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0171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90425" y="1452559"/>
            <a:ext cx="1510665" cy="154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4417" y="3786190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142852"/>
          <a:ext cx="8858312" cy="6331640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algn="ctr"/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BATERIAS RECARGABLES DE RADIO PORTÁTIL   </a:t>
                      </a:r>
                    </a:p>
                    <a:p>
                      <a:pPr algn="ctr"/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2800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INICIAL DE ACOPIO: 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  FINAL DE ACOPIO: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LUGAR DE GENERACION: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CAJA: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4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_______________________________________________________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8. Sustancias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Corrosivas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608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71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Utilizar Guantes de Látex para su manipulación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10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334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11872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en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bolsas plásticas y cajas de cartón 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Evitar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3946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Peligroso, No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inflamable,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Inestables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en caso de Calentamiento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4417" y="4319431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1503044"/>
            <a:ext cx="1805940" cy="1783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91068"/>
          <a:ext cx="8858312" cy="6409766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288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BAUXITA GASTADA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78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93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: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212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747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Nº                                       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4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 DE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746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8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78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overol de material impermeable (Traje Tyvek TY 122) desechable,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78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15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72258">
                <a:tc rowSpan="2"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  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los E.P.P 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</a:t>
                      </a:r>
                      <a:r>
                        <a:rPr lang="es-ES" sz="1200" b="0" i="0" u="sng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en ambientes secos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 a lo anterior se debe humedecer ligeramente el material para evitar las emisiones de polvo a la atmosfera.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9089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No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58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14818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858016" y="1285860"/>
            <a:ext cx="1626870" cy="16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580927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433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BOLAS DE CERÁMICA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1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1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1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1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1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96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21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21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46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46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 orgánicos 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21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085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085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No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791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29454" y="1357298"/>
            <a:ext cx="1626870" cy="16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191582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BOTELLAS DE VIDRIO IMPREGNADAS DE HIDROCARBURO 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PLANTA: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CAJA 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4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 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71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Ropa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trabajo,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10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 orgánicos.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Mantener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0171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4" y="1428736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143380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414836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7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CARBON ACTIVADO GASTADO EN LA PLANTA DE ALQUILACIÓN</a:t>
                      </a:r>
                      <a:r>
                        <a:rPr lang="es-CO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 </a:t>
                      </a: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1362 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82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4.1 Sólido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 orgánicos 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Peligroso,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18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105117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4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9455" y="1500174"/>
            <a:ext cx="1571635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343398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CARBON ACTIVADO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1362 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CANECA: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4.1 Sólido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95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overol de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Peligroso,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18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143380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4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9455" y="1500174"/>
            <a:ext cx="1571635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142852"/>
          <a:ext cx="8858312" cy="6676205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CARBON ACTIVADO GASTADO EN PLANTAS DE AGUA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UN: 1362 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CANECA: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144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4.1 Sólido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95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23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18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4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9455" y="1500174"/>
            <a:ext cx="1571635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169800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ANTRACITA GASTADA EN LA PLANTA DE ALQUILACIÓN 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01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52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52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52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652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769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01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01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848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overol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material impermeable (Traje Tyvek TY 22) desechable,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848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01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9712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</a:t>
                      </a:r>
                      <a:r>
                        <a:rPr lang="es-ES" sz="1200" b="0" i="0" u="sng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en ambiente secos: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Adicional a lo anterior se debe humedecer ligeramente el material para evitar las emisiones de polvo  a la atmósfera.</a:t>
                      </a:r>
                      <a:endParaRPr lang="es-ES" sz="1200" b="0" i="0" u="sng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856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856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4" y="1333497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3962241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169800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ANTRACITA GASTADA EN FILTROS DE PLANTAS DE AGUA  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01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52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52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52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652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769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Varias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01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01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848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overol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material impermeable (Traje Tyvek TY 22) desechable,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848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01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9712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</a:t>
                      </a:r>
                      <a:r>
                        <a:rPr lang="es-ES" sz="1200" b="0" i="0" u="sng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en ambiente secos: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Adicional a lo anterior se debe humedecer ligeramente el material para evitar las emisiones de polvo  a la atmósfera.</a:t>
                      </a:r>
                      <a:endParaRPr lang="es-ES" sz="1200" b="0" i="0" u="sng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856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856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4" y="1357298"/>
            <a:ext cx="1626870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3929066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129491"/>
          <a:ext cx="8858312" cy="6514219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4582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DE HYDRAR</a:t>
                      </a:r>
                      <a:r>
                        <a:rPr lang="es-CO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78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: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REACTOR: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Nº                                       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94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</a:t>
                      </a:r>
                    </a:p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 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DE</a:t>
                      </a:r>
                    </a:p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868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8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78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overol de material impermeable (Traje Tyvek TY 22) desechable,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78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712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01314">
                <a:tc rowSpan="2"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  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los E.P.P 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</a:t>
                      </a:r>
                      <a:r>
                        <a:rPr lang="es-ES" sz="1200" b="0" i="0" u="sng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en ambientes secos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 a lo anterior se debe humedecer ligeramente el material para evitar las emisiones de polvo a la atmosfera.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410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858016" y="1357298"/>
            <a:ext cx="171451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68567"/>
          <a:ext cx="8786875" cy="6543709"/>
        </p:xfrm>
        <a:graphic>
          <a:graphicData uri="http://schemas.openxmlformats.org/drawingml/2006/table">
            <a:tbl>
              <a:tblPr/>
              <a:tblGrid>
                <a:gridCol w="141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0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7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EN LA PRODUCCIÓN DE ÁCIDO SULFÚRICO</a:t>
                      </a:r>
                      <a:r>
                        <a:rPr lang="es-CO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UN: 3260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435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: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10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REACTOR: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008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86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Nº                                       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22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 DE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8.Sustancias Corrosivas</a:t>
                      </a:r>
                    </a:p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41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42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458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overol de material impermeable (Traje Tyvek TY 22) desechable,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458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9504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6937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  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los E.P.P 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</a:t>
                      </a:r>
                      <a:r>
                        <a:rPr lang="es-ES" sz="1200" b="0" i="0" u="sng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en ambientes secos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 a lo anterior se debe humedecer ligeramente el material para evitar las emisiones de polvo a la atmosfera.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860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Muy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4308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16" y="1335058"/>
            <a:ext cx="1805940" cy="1783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214282" y="142851"/>
          <a:ext cx="8786875" cy="6458737"/>
        </p:xfrm>
        <a:graphic>
          <a:graphicData uri="http://schemas.openxmlformats.org/drawingml/2006/table">
            <a:tbl>
              <a:tblPr/>
              <a:tblGrid>
                <a:gridCol w="141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0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DE HIDROISOMERIZACIÓN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2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: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86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REACTOR: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9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TAMBOR: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Nº                                       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64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</a:t>
                      </a:r>
                    </a:p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 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398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overol de material impermeable (Traje Tyvek TY 22) desechable,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484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80770">
                <a:tc rowSpan="2"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  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los E.P.P 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</a:t>
                      </a:r>
                      <a:r>
                        <a:rPr lang="es-ES" sz="1200" b="0" i="0" u="sng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en ambientes secos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 a lo anterior se debe humedecer ligeramente el material para evitar las emisiones de polvo a la atmosfera.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651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peligroso,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105117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6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29454" y="1357298"/>
            <a:ext cx="171451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533329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DE UNIFINING 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REACTOR: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CANECA: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5706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Sustancias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52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23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18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29454" y="1476373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9"/>
          <a:ext cx="8858312" cy="6312277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81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EN CONVERTIDORES DE ALTA</a:t>
                      </a:r>
                      <a:r>
                        <a:rPr lang="es-CO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REACTOR: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CANECA: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126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Sustancias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18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143380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29454" y="1428736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486274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EN CONVERTIDORES DE BAJA</a:t>
                      </a:r>
                      <a:r>
                        <a:rPr lang="es-CO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REACTOR: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CANECA: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26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Sustancias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50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18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874220" y="1476373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312277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EN DESULFURIZADORES </a:t>
                      </a:r>
                      <a:r>
                        <a:rPr lang="es-CO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REACTOR: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82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Sustancias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44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06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103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18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14818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874220" y="1357298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9"/>
          <a:ext cx="8858312" cy="6172016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7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DE REFORMADO CATALÍTICO</a:t>
                      </a:r>
                      <a:r>
                        <a:rPr lang="es-CO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REACTOR: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5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Sustancias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61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1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1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21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61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298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298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o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19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3962241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45658" y="1547811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9"/>
          <a:ext cx="8858312" cy="6390355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EN CONVERTIDORES DE ACETILENO 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REACTOR: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98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Sustancias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08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1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1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21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106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298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298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o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19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105117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29454" y="1476373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9"/>
          <a:ext cx="8858312" cy="6247479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81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HIDROTRATAMIENTO PARAFINAS </a:t>
                      </a:r>
                      <a:r>
                        <a:rPr lang="es-CO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REACTOR: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CANECA: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98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Sustancias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08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1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1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21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623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298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298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o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19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071942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000892" y="1404935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9"/>
          <a:ext cx="8858312" cy="6333595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EN REACTOR DE METANIZACIÓN </a:t>
                      </a:r>
                      <a:r>
                        <a:rPr lang="es-CO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REACTOR: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CANECA: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99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Sustancias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1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1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21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623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298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298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o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19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033679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45658" y="1404935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110479"/>
          <a:ext cx="8858312" cy="6390355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43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DE PLATFORMING</a:t>
                      </a:r>
                      <a:r>
                        <a:rPr lang="es-CO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REACTOR: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211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CANECA: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885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Sustancias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08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1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1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21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623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298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298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o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19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000504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45658" y="1404935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9"/>
          <a:ext cx="8858312" cy="6484354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CARBÓN COQUE</a:t>
                      </a: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1361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5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72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72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72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PLANTA: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72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209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4.1 Sólido inflamable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55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55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886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886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55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98292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98292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Peligroso,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920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95855" y="4143380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87568" y="1428736"/>
            <a:ext cx="1584960" cy="1577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8"/>
          <a:ext cx="8858312" cy="6593359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972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ELEMENTOS DE TORRES EMPACADAS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TORRE: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EMPAQUE: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04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44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32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overol de material impermeable (Traje Tyvek TY 122) desechables , guantes y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botas de seguridad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732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respiradores con filtros para polvo y m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243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10972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42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No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42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319431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858016" y="1404935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440591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7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ELEMENTOS FILTRANTES USADOS DE ACEITE LUBRICANTE  </a:t>
                      </a: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UN:3077 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20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035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035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035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PLANTA: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035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71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20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20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72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ropa de trabajo, delantal plástico, guantes de neopreno  y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botas de seguridad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72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respiradores con filtros para vapores orgánicos y ácidos, m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20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67358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93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combustible,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93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3" y="1500174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352349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7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ELEMENTOS FILTRANTES DE AMINAS</a:t>
                      </a:r>
                      <a:r>
                        <a:rPr lang="es-ES" sz="2400" b="1" kern="1200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UN:3077 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20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035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035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035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PLANTA: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035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427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20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20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72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ropa de trabajo, delantal plástico, guantes de neopreno  y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botas de seguridad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72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respiradores con filtros para vapores orgánicos y ácidos, m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20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340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93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combustible,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93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4417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3" y="1500174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8"/>
          <a:ext cx="8858312" cy="6567599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0134">
                <a:tc gridSpan="4">
                  <a:txBody>
                    <a:bodyPr/>
                    <a:lstStyle/>
                    <a:p>
                      <a:pPr algn="ctr"/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ELEMENTOS IMPREGNADOS DE HIDROCARBURO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  <a:p>
                      <a:pPr algn="ctr"/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(GUANTES, ESTOPAS, TRAPOS, BAYETILLAS)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1856</a:t>
                      </a:r>
                      <a:endParaRPr lang="es-ES" sz="2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82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4.2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90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  INICIAL DE ACOPIO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690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 FINAL DE ACOPIO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690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LUGAR DE GENERACION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690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BOLSA    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156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4.2 </a:t>
                      </a:r>
                      <a:r>
                        <a:rPr lang="es-ES" sz="12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s-ES" sz="12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Sólidos con riesgo de combustión espontánea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82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8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968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Ropa de Trabajo, guantes de nitrilo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y botas de seguridad.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128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 orgánicos 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3582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0385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evitando 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062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062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fuego:</a:t>
                      </a:r>
                      <a:r>
                        <a:rPr lang="es-ES" sz="1200" b="0" i="0" u="sng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533745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9454" y="1785926"/>
            <a:ext cx="1546860" cy="1554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380690"/>
          <a:ext cx="8858312" cy="6108365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43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EMPAQUES DE INSUMOS QUÍMICOS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64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PLANTA: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TIPO: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                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231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74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71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Ropa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trabajo,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10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polvo.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0171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4417" y="4033679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4" y="1547811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001677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7">
                <a:tc gridSpan="4">
                  <a:txBody>
                    <a:bodyPr/>
                    <a:lstStyle/>
                    <a:p>
                      <a:pPr algn="ctr"/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FILTROS USADOS DE EQUIPO AUTOMOTOR 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  <a:p>
                      <a:pPr algn="ctr"/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SIN ELEMENTOS METÁLICOS   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ctr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ctr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 INICIAL DE ACOPIO: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ctr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FINAL DE ACOPIO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ctr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LUGAR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GENERACION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ctr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37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608">
                <a:tc>
                  <a:txBody>
                    <a:bodyPr/>
                    <a:lstStyle/>
                    <a:p>
                      <a:pPr algn="ctr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ctr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712">
                <a:tc>
                  <a:txBody>
                    <a:bodyPr/>
                    <a:lstStyle/>
                    <a:p>
                      <a:pPr algn="ctr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ropa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trabajo, Guantes de vaquetas y Botas de seguridad.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106">
                <a:tc>
                  <a:txBody>
                    <a:bodyPr/>
                    <a:lstStyle/>
                    <a:p>
                      <a:pPr algn="ctr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orgánicos y m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algn="ctr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00066"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 material regado en bolsas plásticas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3962241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858016" y="1428736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8"/>
          <a:ext cx="8858312" cy="6204353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20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LODO CÁUSTICO (BÁSICO)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3262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LUGAR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GENERACION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8906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8. Sustancias corrosivas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60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0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86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Traje Tychem QC 122, guantes de nitrilo 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6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orgánicos y ácidos,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60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Muy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No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Inestable en caso de calentamiento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10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95855" y="4033679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09464" y="1431606"/>
            <a:ext cx="1805940" cy="1783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71414"/>
          <a:ext cx="8858312" cy="6617783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20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RESIDUOS DE MATERIAL AISLANTE SIN ASBESTO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3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TIPO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MATERIAL AISLANTE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 O LINEA: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20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LUGAR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GENERACION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47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Font typeface="Arial" pitchFamily="34" charset="0"/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66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 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0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47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05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05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2893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158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4158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No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normalmente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09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7000892" y="4357694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45658" y="1428736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9"/>
          <a:ext cx="8858312" cy="6524028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7">
                <a:tc gridSpan="4">
                  <a:txBody>
                    <a:bodyPr/>
                    <a:lstStyle/>
                    <a:p>
                      <a:pPr algn="ctr"/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CATALIZADOR GASTADO EN LA PRODUCCION DE AZUFRE 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5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72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72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REACTOR: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72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72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44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Sustancias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55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55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886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886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55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98292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98292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Peligroso, Poco combustible, Inestable en caso de calentamiento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920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45658" y="1476373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8"/>
          <a:ext cx="8858312" cy="6286320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20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PERLITA  EXPANDIDA GASTADA </a:t>
                      </a:r>
                      <a:r>
                        <a:rPr lang="es-CO" sz="24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CANECA: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61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 Sustancias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0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86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material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impermeable, 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6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42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Peligroso, No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inflamable, Estable normalmente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10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000504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29454" y="1404935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148119"/>
              </p:ext>
            </p:extLst>
          </p:nvPr>
        </p:nvGraphicFramePr>
        <p:xfrm>
          <a:off x="71406" y="214289"/>
          <a:ext cx="8858312" cy="6203328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7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RESIDUOS  </a:t>
                      </a: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DE POLIETILENO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LUGAR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GENERACION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3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_______________________________________________________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608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71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ropa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trabajo, Guantes de nitrilo y Botas antideslizantes.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10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 orgánicos y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0171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4" y="1500174"/>
            <a:ext cx="1626870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000504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411096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7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RESIDUOS DE ASFALTO 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226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082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71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Ropa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trabajo, Guantes y Botas de caucho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10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 orgánicos.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Mantener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772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0171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Peligroso, X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Inflamable,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874220" y="1571612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X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142851"/>
          <a:ext cx="8858312" cy="6586417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EMPAQUES DE MANTENIMIENTO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EMPAQUE: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TALLER: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438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 Sustancias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643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898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219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Ropa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trabajo, guantes de vaqueta y botas de seguridad.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6843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No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será requerida, excepto cuando el residuo se encuentre impregnado de hidrocarburo u otras sustancias que puedan emanar vapores. Se debe utilizar protección según sea el riesgo de la sustancia contaminante.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35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42942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Contener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derrame.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Evitar que caiga en fuentes de captación de agua.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346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 para atender el derrame.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 combustible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normalmente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38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390869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29454" y="1428736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134738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9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RESIDUO ELECTRICO / ELECTRONICO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RESIDUO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(S)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GENERACION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LUGAR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GENERACION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36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UNIDAD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EMBALAJE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Nº                        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021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       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71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ropa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trabajo, Guantes de vaqueta, Botas de seguridad dieléctricas.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106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No es necesaria a menos que se especifique lo contrario según el área donde se encuentre el residuo.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17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0171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Contener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y Recoger el derrame.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Evitar que caigan en fuentes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combustible,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47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858016" y="1500174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8"/>
          <a:ext cx="8858312" cy="6402713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20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RESIDUOS DE LIMPIEZA DE CHIMENEAS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LUGAR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GENERACION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8906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 Sustancias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14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0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86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Ropa de trabajo,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6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orgánicos y ácidos,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42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 , Estable normalmente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10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105117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945658" y="1404935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285688" y="209496"/>
          <a:ext cx="8715468" cy="6532266"/>
        </p:xfrm>
        <a:graphic>
          <a:graphicData uri="http://schemas.openxmlformats.org/drawingml/2006/table">
            <a:tbl>
              <a:tblPr/>
              <a:tblGrid>
                <a:gridCol w="140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0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9174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RESINA  IÓNICA GASTADA EN PLANTAS DE AGUA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09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 Sustancias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08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004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74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overol de material impermeable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68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,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4693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65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65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 , Estable normalmente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38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95855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000892" y="1428736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71414"/>
          <a:ext cx="8715468" cy="6711852"/>
        </p:xfrm>
        <a:graphic>
          <a:graphicData uri="http://schemas.openxmlformats.org/drawingml/2006/table">
            <a:tbl>
              <a:tblPr/>
              <a:tblGrid>
                <a:gridCol w="140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0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80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TAMIZ MOLECULAR GASTADO EN UNIDADES DE ETILENO   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282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CORRIDA: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710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 Sustancias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52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004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741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overol de material impermeable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(Traje Tyvek TY 22) desechable, guantes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68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polvos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,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131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65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6524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 , Estable normalmente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5385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858016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2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6874220" y="1408046"/>
            <a:ext cx="1626870" cy="16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142852"/>
          <a:ext cx="8858312" cy="6629632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5820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TUBOS DETECTORES DE GASES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91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  INICIAL DE ACOPIO: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 FINAL DE ACOPIO: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LUGAR DE GENERACION: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6518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91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910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383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Ropa de Trabajo, guantes de nitrilo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y botas de seguridad.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383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 ácidos,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910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1398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 derrames en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tambores metálicos o plásticos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evitando 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13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Muy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137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4" y="1428736"/>
            <a:ext cx="1626870" cy="16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411383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7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ACEITE DIELÉCTRICO USADO CONTAMINADO DE PCBs UN: 2315  </a:t>
                      </a:r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50&lt;= [ ] &lt; 500ppm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474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5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35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35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LUGAR DE GENERACION: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35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053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474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474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Ropa de Trabajo, guantes de vaqueta y botas de seguridad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dieléctricas.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474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6789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16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Muy peligroso,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16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4799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29454" y="1500174"/>
            <a:ext cx="1626870" cy="16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71406" y="214289"/>
          <a:ext cx="8858312" cy="6325854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257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ACEITE DIELÉCTRICO USADO PCB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2315  </a:t>
                      </a:r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[ ] &gt;= 500 ppm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474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5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FECHA: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35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EQUIPO: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35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LUGAR DE GENERACION: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353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006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9.Sustancias Peligrosas Varias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474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474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Utilizar Ropa de Trabajo, guantes de vaqueta y botas de seguridad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dieléctricas.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474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6789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los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derrames en tambores metálicos o plásticos evitando la contaminación en f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16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Mortal, Poco Combustible, Estable normalmente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161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4214818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4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945658" y="1428736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8"/>
          <a:ext cx="8858312" cy="6286320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20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LODO NEUTRALIZADO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LUGAR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GENERACION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17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8. Sustancias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corrosivas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0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86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Ropa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trabajo, guantes y botas de caucho.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6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vapores orgánicos y ácido,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mantener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429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Poco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Poco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combustible, estable normalmente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10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95855" y="3962241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4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88521" y="1437320"/>
            <a:ext cx="1655445" cy="1634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42844" y="214288"/>
          <a:ext cx="8858312" cy="6441051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20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LODO CÁUSTICO (ACIDO)  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UN:3260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LUGAR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GENERACION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TAMBOR: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17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 Sustancias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60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0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OJOS: Utilizar gafas de seguridad que cubran toda el área de los ojos.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86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 Traje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Tychem QC 122, guantes de nitrilo y botas de caucho.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89853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 Usar respiradores con filtro para vapores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orgánicos y </a:t>
                      </a:r>
                      <a:r>
                        <a:rPr lang="es-ES" sz="1200" b="0" i="0" u="none" strike="noStrike" baseline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ácidos,</a:t>
                      </a: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mantener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corrientes frescas de aire y buena ventilación.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60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Confinar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el área utilizando barreras naturales (arena, huecos en tierra, plásticos)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E.P.P.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Fugas en ambiente secos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Adicional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a lo anterior se debe humedecer ligeramente el material para evitar las emisiones de polvo a la atmósfera.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Muy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No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Inestable en caso de calentamiento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10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389080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i="0" strike="noStrike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000892" y="1500174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706064"/>
              </p:ext>
            </p:extLst>
          </p:nvPr>
        </p:nvGraphicFramePr>
        <p:xfrm>
          <a:off x="142844" y="214288"/>
          <a:ext cx="8858312" cy="6330426"/>
        </p:xfrm>
        <a:graphic>
          <a:graphicData uri="http://schemas.openxmlformats.org/drawingml/2006/table">
            <a:tbl>
              <a:tblPr/>
              <a:tblGrid>
                <a:gridCol w="14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20">
                <a:tc gridSpan="4">
                  <a:txBody>
                    <a:bodyPr/>
                    <a:lstStyle/>
                    <a:p>
                      <a:pPr algn="ctr"/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TUBOS/ BOMBILLAS FLUORESCENTES INSERVIBLES</a:t>
                      </a:r>
                      <a:endParaRPr lang="es-ES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  <a:p>
                      <a:pPr algn="ctr"/>
                      <a:r>
                        <a:rPr lang="es-ES" sz="24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UN: 3077</a:t>
                      </a:r>
                      <a:endParaRPr lang="es-CO" sz="2400" kern="1200" dirty="0">
                        <a:solidFill>
                          <a:schemeClr val="tx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DATOS DE ALMACENAMIENTO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UN: CLASE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FECHA: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EQUIPO: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LUGAR</a:t>
                      </a:r>
                      <a:r>
                        <a:rPr lang="es-ES" sz="14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DE GENERACION</a:t>
                      </a: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99">
                <a:tc>
                  <a:txBody>
                    <a:bodyPr/>
                    <a:lstStyle/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CASA:                    Nº        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17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  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                               DE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_______________________________________________________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9. Sustancias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peligrosas varias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607">
                <a:tc>
                  <a:txBody>
                    <a:bodyPr/>
                    <a:lstStyle/>
                    <a:p>
                      <a:pPr algn="l" fontAlgn="ctr"/>
                      <a:endParaRPr lang="es-E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CONTROL DE EXPOSICION- EQUIPO DE PROTECCION PERSONAL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ROTULO NFPA 704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607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PROTECCIÓN OJOS: Utilizar gafas de seguridad que cubran toda el área de los ojos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862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PROTECCIÓN PIEL:</a:t>
                      </a:r>
                      <a:r>
                        <a:rPr lang="es-ES_tradnl" sz="12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Utilizar Ropa de Trabajo, guantes de caucho y botas de seguridad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2515">
                <a:tc>
                  <a:txBody>
                    <a:bodyPr/>
                    <a:lstStyle/>
                    <a:p>
                      <a:pPr algn="l" fontAlgn="auto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PROTECCION RESPIRATORIA:</a:t>
                      </a:r>
                      <a:r>
                        <a:rPr lang="es-ES_tradnl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_tradnl" sz="120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Usar respiradores con filtro para vapores</a:t>
                      </a:r>
                      <a:r>
                        <a:rPr lang="es-ES_tradnl" sz="1200" kern="1200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(si el material esta  roto)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14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MEDIDAS DE EMERGENCIA EN CASO DE VERTIDO ACCIDENTAL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Recoger en el menor tiempo posible 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los derrames en tambores metálicos o plásticos evitando 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la  contaminación en  fuentes de captación de agua.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54793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Utilizar el E.P.P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Muy p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eligroso, No</a:t>
                      </a:r>
                      <a:r>
                        <a:rPr lang="es-ES" sz="1200" b="0" i="0" u="none" strike="noStrike" baseline="0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 inflamable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, Estable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510">
                <a:tc>
                  <a:txBody>
                    <a:bodyPr/>
                    <a:lstStyle/>
                    <a:p>
                      <a:pPr algn="l" fontAlgn="ctr"/>
                      <a:endParaRPr lang="es-E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s-ES" sz="1200" b="0" i="0" u="sng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Agentes extintores del fuego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cs typeface="Arial" pitchFamily="34" charset="0"/>
                        </a:rPr>
                        <a:t>: Arena, CO2, polvo químico, agua pulverizada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6929454" y="3890803"/>
            <a:ext cx="1648111" cy="1609899"/>
            <a:chOff x="0" y="0"/>
            <a:chExt cx="1440" cy="1440"/>
          </a:xfrm>
        </p:grpSpPr>
        <p:sp>
          <p:nvSpPr>
            <p:cNvPr id="17" name="AutoShape 2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8" name="AutoShape 3"/>
            <p:cNvSpPr>
              <a:spLocks noChangeAspect="1" noChangeArrowheads="1"/>
            </p:cNvSpPr>
            <p:nvPr/>
          </p:nvSpPr>
          <p:spPr bwMode="auto">
            <a:xfrm>
              <a:off x="360" y="0"/>
              <a:ext cx="720" cy="720"/>
            </a:xfrm>
            <a:prstGeom prst="diamond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19" name="AutoShape 4"/>
            <p:cNvSpPr>
              <a:spLocks noChangeAspect="1" noChangeArrowheads="1"/>
            </p:cNvSpPr>
            <p:nvPr/>
          </p:nvSpPr>
          <p:spPr bwMode="auto">
            <a:xfrm>
              <a:off x="720" y="360"/>
              <a:ext cx="720" cy="720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0" name="AutoShape 5"/>
            <p:cNvSpPr>
              <a:spLocks noChangeAspect="1" noChangeArrowheads="1"/>
            </p:cNvSpPr>
            <p:nvPr/>
          </p:nvSpPr>
          <p:spPr bwMode="auto">
            <a:xfrm>
              <a:off x="0" y="360"/>
              <a:ext cx="720" cy="720"/>
            </a:xfrm>
            <a:prstGeom prst="diamond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1" name="AutoShape 6"/>
            <p:cNvSpPr>
              <a:spLocks noChangeAspect="1" noChangeArrowheads="1"/>
            </p:cNvSpPr>
            <p:nvPr/>
          </p:nvSpPr>
          <p:spPr bwMode="auto">
            <a:xfrm>
              <a:off x="360" y="720"/>
              <a:ext cx="720" cy="72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2" name="Text Box 7"/>
            <p:cNvSpPr txBox="1">
              <a:spLocks noChangeAspect="1" noChangeArrowheads="1"/>
            </p:cNvSpPr>
            <p:nvPr/>
          </p:nvSpPr>
          <p:spPr bwMode="auto">
            <a:xfrm>
              <a:off x="18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3</a:t>
              </a:r>
              <a:endParaRPr lang="es-ES" sz="4000" b="1" i="0" strike="noStrike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  <a:p>
              <a:pPr algn="l" rtl="1">
                <a:defRPr sz="1000"/>
              </a:pP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3" name="AutoShape 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1440" cy="1440"/>
            </a:xfrm>
            <a:prstGeom prst="diamond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</p:spPr>
        </p:sp>
        <p:sp>
          <p:nvSpPr>
            <p:cNvPr id="24" name="Text Box 9"/>
            <p:cNvSpPr txBox="1">
              <a:spLocks noChangeAspect="1" noChangeArrowheads="1"/>
            </p:cNvSpPr>
            <p:nvPr/>
          </p:nvSpPr>
          <p:spPr bwMode="auto">
            <a:xfrm>
              <a:off x="540" y="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5" name="Text Box 10"/>
            <p:cNvSpPr txBox="1">
              <a:spLocks noChangeAspect="1" noChangeArrowheads="1"/>
            </p:cNvSpPr>
            <p:nvPr/>
          </p:nvSpPr>
          <p:spPr bwMode="auto">
            <a:xfrm>
              <a:off x="900" y="360"/>
              <a:ext cx="360" cy="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576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defRPr sz="1000"/>
              </a:pPr>
              <a:r>
                <a:rPr lang="es-ES" sz="4000" b="1" dirty="0">
                  <a:solidFill>
                    <a:srgbClr val="000000"/>
                  </a:solidFill>
                  <a:latin typeface="Arial"/>
                  <a:cs typeface="Arial"/>
                </a:rPr>
                <a:t>0</a:t>
              </a:r>
              <a:endParaRPr lang="es-ES" sz="1100" b="0" i="0" strike="noStrike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000892" y="1500174"/>
            <a:ext cx="162687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7.0&quot;&gt;&lt;object type=&quot;1&quot; unique_id=&quot;10001&quot;&gt;&lt;object type=&quot;2&quot; unique_id=&quot;10020&quot;&gt;&lt;object type=&quot;3&quot; unique_id=&quot;10021&quot;&gt;&lt;property id=&quot;20148&quot; value=&quot;5&quot;/&gt;&lt;property id=&quot;20300&quot; value=&quot;Slide 1 - &amp;quot;Etiquetas RSI&amp;quot;&quot;/&gt;&lt;property id=&quot;20307&quot; value=&quot;256&quot;/&gt;&lt;/object&gt;&lt;object type=&quot;3&quot; unique_id=&quot;10022&quot;&gt;&lt;property id=&quot;20148&quot; value=&quot;5&quot;/&gt;&lt;property id=&quot;20300&quot; value=&quot;Slide 2&quot;/&gt;&lt;property id=&quot;20307&quot; value=&quot;257&quot;/&gt;&lt;/object&gt;&lt;object type=&quot;3&quot; unique_id=&quot;10029&quot;&gt;&lt;property id=&quot;20148&quot; value=&quot;5&quot;/&gt;&lt;property id=&quot;20300&quot; value=&quot;Slide 3&quot;/&gt;&lt;property id=&quot;20307&quot; value=&quot;259&quot;/&gt;&lt;/object&gt;&lt;object type=&quot;3&quot; unique_id=&quot;10030&quot;&gt;&lt;property id=&quot;20148&quot; value=&quot;5&quot;/&gt;&lt;property id=&quot;20300&quot; value=&quot;Slide 4&quot;/&gt;&lt;property id=&quot;20307&quot; value=&quot;260&quot;/&gt;&lt;/object&gt;&lt;object type=&quot;3&quot; unique_id=&quot;10031&quot;&gt;&lt;property id=&quot;20148&quot; value=&quot;5&quot;/&gt;&lt;property id=&quot;20300&quot; value=&quot;Slide 5&quot;/&gt;&lt;property id=&quot;20307&quot; value=&quot;262&quot;/&gt;&lt;/object&gt;&lt;object type=&quot;3&quot; unique_id=&quot;10032&quot;&gt;&lt;property id=&quot;20148&quot; value=&quot;5&quot;/&gt;&lt;property id=&quot;20300&quot; value=&quot;Slide 6&quot;/&gt;&lt;property id=&quot;20307&quot; value=&quot;264&quot;/&gt;&lt;/object&gt;&lt;object type=&quot;3&quot; unique_id=&quot;10033&quot;&gt;&lt;property id=&quot;20148&quot; value=&quot;5&quot;/&gt;&lt;property id=&quot;20300&quot; value=&quot;Slide 7&quot;/&gt;&lt;property id=&quot;20307&quot; value=&quot;266&quot;/&gt;&lt;/object&gt;&lt;object type=&quot;3&quot; unique_id=&quot;10034&quot;&gt;&lt;property id=&quot;20148&quot; value=&quot;5&quot;/&gt;&lt;property id=&quot;20300&quot; value=&quot;Slide 8&quot;/&gt;&lt;property id=&quot;20307&quot; value=&quot;268&quot;/&gt;&lt;/object&gt;&lt;object type=&quot;3&quot; unique_id=&quot;10035&quot;&gt;&lt;property id=&quot;20148&quot; value=&quot;5&quot;/&gt;&lt;property id=&quot;20300&quot; value=&quot;Slide 9&quot;/&gt;&lt;property id=&quot;20307&quot; value=&quot;270&quot;/&gt;&lt;/object&gt;&lt;object type=&quot;3&quot; unique_id=&quot;10036&quot;&gt;&lt;property id=&quot;20148&quot; value=&quot;5&quot;/&gt;&lt;property id=&quot;20300&quot; value=&quot;Slide 10&quot;/&gt;&lt;property id=&quot;20307&quot; value=&quot;272&quot;/&gt;&lt;/object&gt;&lt;object type=&quot;3&quot; unique_id=&quot;10037&quot;&gt;&lt;property id=&quot;20148&quot; value=&quot;5&quot;/&gt;&lt;property id=&quot;20300&quot; value=&quot;Slide 11&quot;/&gt;&lt;property id=&quot;20307&quot; value=&quot;274&quot;/&gt;&lt;/object&gt;&lt;object type=&quot;3&quot; unique_id=&quot;10038&quot;&gt;&lt;property id=&quot;20148&quot; value=&quot;5&quot;/&gt;&lt;property id=&quot;20300&quot; value=&quot;Slide 12&quot;/&gt;&lt;property id=&quot;20307&quot; value=&quot;276&quot;/&gt;&lt;/object&gt;&lt;object type=&quot;3&quot; unique_id=&quot;10039&quot;&gt;&lt;property id=&quot;20148&quot; value=&quot;5&quot;/&gt;&lt;property id=&quot;20300&quot; value=&quot;Slide 13&quot;/&gt;&lt;property id=&quot;20307&quot; value=&quot;278&quot;/&gt;&lt;/object&gt;&lt;object type=&quot;3&quot; unique_id=&quot;10040&quot;&gt;&lt;property id=&quot;20148&quot; value=&quot;5&quot;/&gt;&lt;property id=&quot;20300&quot; value=&quot;Slide 14&quot;/&gt;&lt;property id=&quot;20307&quot; value=&quot;281&quot;/&gt;&lt;/object&gt;&lt;object type=&quot;3&quot; unique_id=&quot;10041&quot;&gt;&lt;property id=&quot;20148&quot; value=&quot;5&quot;/&gt;&lt;property id=&quot;20300&quot; value=&quot;Slide 15&quot;/&gt;&lt;property id=&quot;20307&quot; value=&quot;283&quot;/&gt;&lt;/object&gt;&lt;object type=&quot;3&quot; unique_id=&quot;10042&quot;&gt;&lt;property id=&quot;20148&quot; value=&quot;5&quot;/&gt;&lt;property id=&quot;20300&quot; value=&quot;Slide 16&quot;/&gt;&lt;property id=&quot;20307&quot; value=&quot;285&quot;/&gt;&lt;/object&gt;&lt;object type=&quot;3&quot; unique_id=&quot;10043&quot;&gt;&lt;property id=&quot;20148&quot; value=&quot;5&quot;/&gt;&lt;property id=&quot;20300&quot; value=&quot;Slide 17&quot;/&gt;&lt;property id=&quot;20307&quot; value=&quot;287&quot;/&gt;&lt;/object&gt;&lt;object type=&quot;3&quot; unique_id=&quot;10044&quot;&gt;&lt;property id=&quot;20148&quot; value=&quot;5&quot;/&gt;&lt;property id=&quot;20300&quot; value=&quot;Slide 18&quot;/&gt;&lt;property id=&quot;20307&quot; value=&quot;289&quot;/&gt;&lt;/object&gt;&lt;object type=&quot;3&quot; unique_id=&quot;10045&quot;&gt;&lt;property id=&quot;20148&quot; value=&quot;5&quot;/&gt;&lt;property id=&quot;20300&quot; value=&quot;Slide 19&quot;/&gt;&lt;property id=&quot;20307&quot; value=&quot;291&quot;/&gt;&lt;/object&gt;&lt;object type=&quot;3&quot; unique_id=&quot;10046&quot;&gt;&lt;property id=&quot;20148&quot; value=&quot;5&quot;/&gt;&lt;property id=&quot;20300&quot; value=&quot;Slide 20&quot;/&gt;&lt;property id=&quot;20307&quot; value=&quot;293&quot;/&gt;&lt;/object&gt;&lt;object type=&quot;3&quot; unique_id=&quot;10048&quot;&gt;&lt;property id=&quot;20148&quot; value=&quot;5&quot;/&gt;&lt;property id=&quot;20300&quot; value=&quot;Slide 21&quot;/&gt;&lt;property id=&quot;20307&quot; value=&quot;296&quot;/&gt;&lt;/object&gt;&lt;object type=&quot;3&quot; unique_id=&quot;10049&quot;&gt;&lt;property id=&quot;20148&quot; value=&quot;5&quot;/&gt;&lt;property id=&quot;20300&quot; value=&quot;Slide 22&quot;/&gt;&lt;property id=&quot;20307&quot; value=&quot;298&quot;/&gt;&lt;/object&gt;&lt;object type=&quot;3&quot; unique_id=&quot;10050&quot;&gt;&lt;property id=&quot;20148&quot; value=&quot;5&quot;/&gt;&lt;property id=&quot;20300&quot; value=&quot;Slide 23&quot;/&gt;&lt;property id=&quot;20307&quot; value=&quot;300&quot;/&gt;&lt;/object&gt;&lt;object type=&quot;3&quot; unique_id=&quot;10051&quot;&gt;&lt;property id=&quot;20148&quot; value=&quot;5&quot;/&gt;&lt;property id=&quot;20300&quot; value=&quot;Slide 24&quot;/&gt;&lt;property id=&quot;20307&quot; value=&quot;302&quot;/&gt;&lt;/object&gt;&lt;object type=&quot;3&quot; unique_id=&quot;10052&quot;&gt;&lt;property id=&quot;20148&quot; value=&quot;5&quot;/&gt;&lt;property id=&quot;20300&quot; value=&quot;Slide 25&quot;/&gt;&lt;property id=&quot;20307&quot; value=&quot;304&quot;/&gt;&lt;/object&gt;&lt;object type=&quot;3&quot; unique_id=&quot;10053&quot;&gt;&lt;property id=&quot;20148&quot; value=&quot;5&quot;/&gt;&lt;property id=&quot;20300&quot; value=&quot;Slide 26&quot;/&gt;&lt;property id=&quot;20307&quot; value=&quot;306&quot;/&gt;&lt;/object&gt;&lt;object type=&quot;3&quot; unique_id=&quot;10054&quot;&gt;&lt;property id=&quot;20148&quot; value=&quot;5&quot;/&gt;&lt;property id=&quot;20300&quot; value=&quot;Slide 27&quot;/&gt;&lt;property id=&quot;20307&quot; value=&quot;308&quot;/&gt;&lt;/object&gt;&lt;object type=&quot;3&quot; unique_id=&quot;10055&quot;&gt;&lt;property id=&quot;20148&quot; value=&quot;5&quot;/&gt;&lt;property id=&quot;20300&quot; value=&quot;Slide 28&quot;/&gt;&lt;property id=&quot;20307&quot; value=&quot;310&quot;/&gt;&lt;/object&gt;&lt;object type=&quot;3&quot; unique_id=&quot;10056&quot;&gt;&lt;property id=&quot;20148&quot; value=&quot;5&quot;/&gt;&lt;property id=&quot;20300&quot; value=&quot;Slide 29&quot;/&gt;&lt;property id=&quot;20307&quot; value=&quot;312&quot;/&gt;&lt;/object&gt;&lt;object type=&quot;3&quot; unique_id=&quot;10057&quot;&gt;&lt;property id=&quot;20148&quot; value=&quot;5&quot;/&gt;&lt;property id=&quot;20300&quot; value=&quot;Slide 30&quot;/&gt;&lt;property id=&quot;20307&quot; value=&quot;314&quot;/&gt;&lt;/object&gt;&lt;object type=&quot;3&quot; unique_id=&quot;10058&quot;&gt;&lt;property id=&quot;20148&quot; value=&quot;5&quot;/&gt;&lt;property id=&quot;20300&quot; value=&quot;Slide 31&quot;/&gt;&lt;property id=&quot;20307&quot; value=&quot;316&quot;/&gt;&lt;/object&gt;&lt;object type=&quot;3&quot; unique_id=&quot;10059&quot;&gt;&lt;property id=&quot;20148&quot; value=&quot;5&quot;/&gt;&lt;property id=&quot;20300&quot; value=&quot;Slide 32&quot;/&gt;&lt;property id=&quot;20307&quot; value=&quot;318&quot;/&gt;&lt;/object&gt;&lt;object type=&quot;3&quot; unique_id=&quot;10060&quot;&gt;&lt;property id=&quot;20148&quot; value=&quot;5&quot;/&gt;&lt;property id=&quot;20300&quot; value=&quot;Slide 33&quot;/&gt;&lt;property id=&quot;20307&quot; value=&quot;320&quot;/&gt;&lt;/object&gt;&lt;object type=&quot;3&quot; unique_id=&quot;10061&quot;&gt;&lt;property id=&quot;20148&quot; value=&quot;5&quot;/&gt;&lt;property id=&quot;20300&quot; value=&quot;Slide 34&quot;/&gt;&lt;property id=&quot;20307&quot; value=&quot;322&quot;/&gt;&lt;/object&gt;&lt;object type=&quot;3&quot; unique_id=&quot;10062&quot;&gt;&lt;property id=&quot;20148&quot; value=&quot;5&quot;/&gt;&lt;property id=&quot;20300&quot; value=&quot;Slide 35&quot;/&gt;&lt;property id=&quot;20307&quot; value=&quot;324&quot;/&gt;&lt;/object&gt;&lt;object type=&quot;3&quot; unique_id=&quot;10063&quot;&gt;&lt;property id=&quot;20148&quot; value=&quot;5&quot;/&gt;&lt;property id=&quot;20300&quot; value=&quot;Slide 36&quot;/&gt;&lt;property id=&quot;20307&quot; value=&quot;326&quot;/&gt;&lt;/object&gt;&lt;object type=&quot;3&quot; unique_id=&quot;10064&quot;&gt;&lt;property id=&quot;20148&quot; value=&quot;5&quot;/&gt;&lt;property id=&quot;20300&quot; value=&quot;Slide 37&quot;/&gt;&lt;property id=&quot;20307&quot; value=&quot;328&quot;/&gt;&lt;/object&gt;&lt;object type=&quot;3&quot; unique_id=&quot;10065&quot;&gt;&lt;property id=&quot;20148&quot; value=&quot;5&quot;/&gt;&lt;property id=&quot;20300&quot; value=&quot;Slide 38&quot;/&gt;&lt;property id=&quot;20307&quot; value=&quot;330&quot;/&gt;&lt;/object&gt;&lt;object type=&quot;3&quot; unique_id=&quot;10066&quot;&gt;&lt;property id=&quot;20148&quot; value=&quot;5&quot;/&gt;&lt;property id=&quot;20300&quot; value=&quot;Slide 39&quot;/&gt;&lt;property id=&quot;20307&quot; value=&quot;332&quot;/&gt;&lt;/object&gt;&lt;object type=&quot;3&quot; unique_id=&quot;10067&quot;&gt;&lt;property id=&quot;20148&quot; value=&quot;5&quot;/&gt;&lt;property id=&quot;20300&quot; value=&quot;Slide 40&quot;/&gt;&lt;property id=&quot;20307&quot; value=&quot;334&quot;/&gt;&lt;/object&gt;&lt;object type=&quot;3&quot; unique_id=&quot;10068&quot;&gt;&lt;property id=&quot;20148&quot; value=&quot;5&quot;/&gt;&lt;property id=&quot;20300&quot; value=&quot;Slide 41&quot;/&gt;&lt;property id=&quot;20307&quot; value=&quot;336&quot;/&gt;&lt;/object&gt;&lt;object type=&quot;3&quot; unique_id=&quot;10069&quot;&gt;&lt;property id=&quot;20148&quot; value=&quot;5&quot;/&gt;&lt;property id=&quot;20300&quot; value=&quot;Slide 42&quot;/&gt;&lt;property id=&quot;20307&quot; value=&quot;338&quot;/&gt;&lt;/object&gt;&lt;object type=&quot;3&quot; unique_id=&quot;10070&quot;&gt;&lt;property id=&quot;20148&quot; value=&quot;5&quot;/&gt;&lt;property id=&quot;20300&quot; value=&quot;Slide 43&quot;/&gt;&lt;property id=&quot;20307&quot; value=&quot;340&quot;/&gt;&lt;/object&gt;&lt;object type=&quot;3&quot; unique_id=&quot;10071&quot;&gt;&lt;property id=&quot;20148&quot; value=&quot;5&quot;/&gt;&lt;property id=&quot;20300&quot; value=&quot;Slide 44&quot;/&gt;&lt;property id=&quot;20307&quot; value=&quot;342&quot;/&gt;&lt;/object&gt;&lt;object type=&quot;3&quot; unique_id=&quot;10072&quot;&gt;&lt;property id=&quot;20148&quot; value=&quot;5&quot;/&gt;&lt;property id=&quot;20300&quot; value=&quot;Slide 45&quot;/&gt;&lt;property id=&quot;20307&quot; value=&quot;344&quot;/&gt;&lt;/object&gt;&lt;object type=&quot;3&quot; unique_id=&quot;10073&quot;&gt;&lt;property id=&quot;20148&quot; value=&quot;5&quot;/&gt;&lt;property id=&quot;20300&quot; value=&quot;Slide 46&quot;/&gt;&lt;property id=&quot;20307&quot; value=&quot;346&quot;/&gt;&lt;/object&gt;&lt;object type=&quot;3&quot; unique_id=&quot;10074&quot;&gt;&lt;property id=&quot;20148&quot; value=&quot;5&quot;/&gt;&lt;property id=&quot;20300&quot; value=&quot;Slide 47&quot;/&gt;&lt;property id=&quot;20307&quot; value=&quot;348&quot;/&gt;&lt;/object&gt;&lt;object type=&quot;3&quot; unique_id=&quot;10075&quot;&gt;&lt;property id=&quot;20148&quot; value=&quot;5&quot;/&gt;&lt;property id=&quot;20300&quot; value=&quot;Slide 48&quot;/&gt;&lt;property id=&quot;20307&quot; value=&quot;350&quot;/&gt;&lt;/object&gt;&lt;object type=&quot;3&quot; unique_id=&quot;10076&quot;&gt;&lt;property id=&quot;20148&quot; value=&quot;5&quot;/&gt;&lt;property id=&quot;20300&quot; value=&quot;Slide 49&quot;/&gt;&lt;property id=&quot;20307&quot; value=&quot;352&quot;/&gt;&lt;/object&gt;&lt;object type=&quot;3&quot; unique_id=&quot;10077&quot;&gt;&lt;property id=&quot;20148&quot; value=&quot;5&quot;/&gt;&lt;property id=&quot;20300&quot; value=&quot;Slide 50&quot;/&gt;&lt;property id=&quot;20307&quot; value=&quot;354&quot;/&gt;&lt;/object&gt;&lt;object type=&quot;3&quot; unique_id=&quot;10078&quot;&gt;&lt;property id=&quot;20148&quot; value=&quot;5&quot;/&gt;&lt;property id=&quot;20300&quot; value=&quot;Slide 51&quot;/&gt;&lt;property id=&quot;20307&quot; value=&quot;356&quot;/&gt;&lt;/object&gt;&lt;object type=&quot;3&quot; unique_id=&quot;10079&quot;&gt;&lt;property id=&quot;20148&quot; value=&quot;5&quot;/&gt;&lt;property id=&quot;20300&quot; value=&quot;Slide 52&quot;/&gt;&lt;property id=&quot;20307&quot; value=&quot;358&quot;/&gt;&lt;/object&gt;&lt;object type=&quot;3&quot; unique_id=&quot;10297&quot;&gt;&lt;property id=&quot;20148&quot; value=&quot;5&quot;/&gt;&lt;property id=&quot;20300&quot; value=&quot;Slide 53&quot;/&gt;&lt;property id=&quot;20307&quot; value=&quot;359&quot;/&gt;&lt;/object&gt;&lt;/object&gt;&lt;object type=&quot;8&quot; unique_id=&quot;10028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10332</Words>
  <Application>Microsoft Office PowerPoint</Application>
  <PresentationFormat>Carta (216 x 279 mm)</PresentationFormat>
  <Paragraphs>1732</Paragraphs>
  <Slides>53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57" baseType="lpstr">
      <vt:lpstr>Arial</vt:lpstr>
      <vt:lpstr>Calibri</vt:lpstr>
      <vt:lpstr>Times New Roman</vt:lpstr>
      <vt:lpstr>Tema de Office</vt:lpstr>
      <vt:lpstr>Etiquetas RSI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Familiar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Etiquetas RSI</dc:title>
  <dc:creator>c6354523</dc:creator>
  <cp:lastModifiedBy>Nelson Guarin</cp:lastModifiedBy>
  <cp:revision>212</cp:revision>
  <dcterms:created xsi:type="dcterms:W3CDTF">2010-05-11T11:47:04Z</dcterms:created>
  <dcterms:modified xsi:type="dcterms:W3CDTF">2023-03-30T12:16:14Z</dcterms:modified>
</cp:coreProperties>
</file>